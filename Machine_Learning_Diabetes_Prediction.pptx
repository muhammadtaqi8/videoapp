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Machine Learning Approaches for Diabetes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Pardeep Singh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MSc. Computer Science and Technology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Ulster University, Birmingham, United Kingdom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4572000"/>
            <a:ext cx="8229600" cy="13716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CW-1 Video Demonstration - A comprehensive comparison of machine learning algorithms for diabetes prediction using clinical data from the Pima Indian population.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Global Diabetes Crisis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537M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Adults with diabetes worldwide (2021)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10.5%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Global adult population prevalence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783M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Projected cases by 2045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46%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Increase from current statistics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Key Insight</a:t>
            </a:r>
            <a:br/>
            <a:r>
              <a:t>Diabetes mellitus has become one of the most pressing health crises of this century, with dramatic increases projected over the coming decades.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Unequal Distribution of Diabetes Burden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Indigenous populations experience disproportionately high rates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Pima Indians of Arizona: Over 50% prevalence in some age groups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Complex interplay: Genetic predisposition + environmental factors + socioeconomic determinants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Health disparities reveal systemic inequalities in healthcare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Economic Impact of Diabetes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$966B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Global economic burden (2021)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1.8%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Of global GDP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Increased healthcare expenditure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Reduced earning capacity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Lifestyle modification costs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Long-term management requirements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Perpetuation of poverty cycles and health inequalities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Future Projections: A Worsening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COVID-19 Pandemic: Higher severe outcomes and mortality for diabetic individuals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Climate Change: Extreme weather disrupting food systems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Healthcare Access: Limited services in affected regions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Resource Constraints: Inadequate healthcare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By 2045: One in Eight Adults Will Have Diabetes</a:t>
            </a:r>
            <a:br/>
            <a:r>
              <a:t>Majority of cases occurring in low- and middle-income countries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Traditional diagnostic approaches rely heavily on clinical assessment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Laboratory testing not readily available in resource-limited settings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Failure to identify at-risk individuals before symptom onset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Limited predictive capabilities in high-risk populations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The Challenge</a:t>
            </a:r>
            <a:br/>
            <a:r>
              <a:t>Despite significant advances in medical knowledge and technology, diabetes continues to be underdiagnosed and inadequately managed in many populations.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943600"/>
            <a:ext cx="10972800" cy="9144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Opportunity: The Pima Indian population presents a unique case study due to their exceptionally high genetic predisposition to diabetes.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Research Aim and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Primary Aim</a:t>
            </a:r>
            <a:br/>
            <a:r>
              <a:t>To develop and evaluate machine learning models for diabetes prediction using the Pima Indian Diabetes Dataset, identifying the most effective algorithmic approach for clinical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768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Female patients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Clinical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268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Positive diabetes cases (34.9%)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21+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Years minimum 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Pregnancies (0-17, mean: 3.8)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Glucose (0-199 mg/dL, mean: 120.9)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Blood Pressure (0-122 mmHg, mean: 69.1)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Skin Thickness (0-99 mm, mean: 20.5)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Insulin (0-846 μU/ml, mean: 79.8)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BMI (0-67.1 kg/m², mean: 31.9)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Diabetes Pedigree (0.078-2.42, mean: 0.47)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Age (21-81 years, mean: 33.2)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Exploratory Data Analysis: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120.9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Mean Glucose (mg/dL)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31.9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Mean BMI (kg/m²)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68%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Overweight/Obese patients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645920"/>
            <a:ext cx="256032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33.2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Mean Age (years)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Glucose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645920"/>
            <a:ext cx="7735823" cy="457200"/>
          </a:xfrm>
          <a:prstGeom prst="rect">
            <a:avLst/>
          </a:prstGeom>
          <a:solidFill>
            <a:srgbClr val="E74C3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7423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0.47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BMI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2286000"/>
            <a:ext cx="4773168" cy="457200"/>
          </a:xfrm>
          <a:prstGeom prst="rect">
            <a:avLst/>
          </a:prstGeom>
          <a:solidFill>
            <a:srgbClr val="E74C3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286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0.29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926080"/>
            <a:ext cx="8229600" cy="45720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2926080"/>
            <a:ext cx="3950208" cy="457200"/>
          </a:xfrm>
          <a:prstGeom prst="rect">
            <a:avLst/>
          </a:prstGeom>
          <a:solidFill>
            <a:srgbClr val="E74C3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2926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0.24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Missing Values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Missing Instances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Issue Type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Insulin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374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48.7%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Physiologically impossible zeros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Skin Thickness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Physiologically impossible zeros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Blood Pressure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4.6%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Physiologically impossible zeros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Physiologically impossible zeros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Glucose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Physiologically impossible zeros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663440"/>
            <a:ext cx="10972800" cy="9144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Systematic Data Quality Issues</a:t>
            </a:r>
            <a:br/>
            <a:r>
              <a:t>Zero values in physiologically impossible measurements indicate systematic data collection problems rather than random missingness.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Data Preprocessing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02920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BMI Categories</a:t>
            </a:r>
          </a:p>
          <a:p>
            <a:pPr algn="l">
              <a:defRPr sz="1200">
                <a:solidFill>
                  <a:srgbClr val="333333"/>
                </a:solidFill>
              </a:defRPr>
            </a:pPr>
            <a:r>
              <a:t>Underweight, Normal, Overweight, Obese - capturing non-linear diabetes risk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645920"/>
            <a:ext cx="502920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Age Groups</a:t>
            </a:r>
          </a:p>
          <a:p>
            <a:pPr algn="l">
              <a:defRPr sz="1200">
                <a:solidFill>
                  <a:srgbClr val="333333"/>
                </a:solidFill>
              </a:defRPr>
            </a:pPr>
            <a:r>
              <a:t>Different life-stage risk profiles for targeted intervention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40"/>
            <a:ext cx="502920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Glucose-BMI Interaction</a:t>
            </a:r>
          </a:p>
          <a:p>
            <a:pPr algn="l">
              <a:defRPr sz="1200">
                <a:solidFill>
                  <a:srgbClr val="333333"/>
                </a:solidFill>
              </a:defRPr>
            </a:pPr>
            <a:r>
              <a:t>Combined impact recognition based on clinical 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3749040"/>
            <a:ext cx="502920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Standardization</a:t>
            </a:r>
          </a:p>
          <a:p>
            <a:pPr algn="l">
              <a:defRPr sz="1200">
                <a:solidFill>
                  <a:srgbClr val="333333"/>
                </a:solidFill>
              </a:defRPr>
            </a:pPr>
            <a:r>
              <a:t>Equal contribution for distance-based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95528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Identification: Zero values treated as missing data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Imputation Method: Median values (robust against outliers)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Rationale: Especially important for insulin values (0-846 μU/ml range)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Selected Machine Learning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02920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Support Vector Machine (SVM)</a:t>
            </a:r>
          </a:p>
          <a:p>
            <a:pPr algn="l">
              <a:defRPr sz="1200">
                <a:solidFill>
                  <a:srgbClr val="333333"/>
                </a:solidFill>
              </a:defRPr>
            </a:pPr>
            <a:r>
              <a:t>Kernel: RBF for non-linear relationships</a:t>
            </a:r>
            <a:br/>
            <a:r>
              <a:t>Strength: Optimal hyperplane identification</a:t>
            </a:r>
            <a:br/>
            <a:r>
              <a:t>Use Case: Feature interaction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645920"/>
            <a:ext cx="502920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Logistic Regression</a:t>
            </a:r>
          </a:p>
          <a:p>
            <a:pPr algn="l">
              <a:defRPr sz="1200">
                <a:solidFill>
                  <a:srgbClr val="333333"/>
                </a:solidFill>
              </a:defRPr>
            </a:pPr>
            <a:r>
              <a:t>Nature: Linear probabilistic predictions</a:t>
            </a:r>
            <a:br/>
            <a:r>
              <a:t>Strength: Interpretable coefficients</a:t>
            </a:r>
            <a:br/>
            <a:r>
              <a:t>Use Case: Clinical decision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40"/>
            <a:ext cx="502920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Gradient Boosting</a:t>
            </a:r>
          </a:p>
          <a:p>
            <a:pPr algn="l">
              <a:defRPr sz="1200">
                <a:solidFill>
                  <a:srgbClr val="333333"/>
                </a:solidFill>
              </a:defRPr>
            </a:pPr>
            <a:r>
              <a:t>Method: Sequential error correction</a:t>
            </a:r>
            <a:br/>
            <a:r>
              <a:t>Strength: Robust to outliers and noise</a:t>
            </a:r>
            <a:br/>
            <a:r>
              <a:t>Use Case: Feature importance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3749040"/>
            <a:ext cx="502920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Naive Bayes</a:t>
            </a:r>
          </a:p>
          <a:p>
            <a:pPr algn="l">
              <a:defRPr sz="1200">
                <a:solidFill>
                  <a:srgbClr val="333333"/>
                </a:solidFill>
              </a:defRPr>
            </a:pPr>
            <a:r>
              <a:t>Assumption: Feature independence</a:t>
            </a:r>
            <a:br/>
            <a:r>
              <a:t>Strength: Probabilistic classification</a:t>
            </a:r>
            <a:br/>
            <a:r>
              <a:t>Use Case: Uncertainty quantification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Algorithm Performance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Recall (Sensitivity)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Naive Bayes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77.5%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SVM (RBF)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76.6%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0.47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0.59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206240"/>
            <a:ext cx="10972800" cy="9144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Key Finding: Naive Bayes achieved the highest accuracy (77.5%) and sensitivity (74%), making it optimal for diabetes screening applications.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Detailed Performance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02920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Naive Bayes - Best for Screening</a:t>
            </a:r>
          </a:p>
          <a:p>
            <a:pPr algn="l">
              <a:defRPr sz="1200">
                <a:solidFill>
                  <a:srgbClr val="333333"/>
                </a:solidFill>
              </a:defRPr>
            </a:pPr>
            <a:r>
              <a:t>Highest sensitivity (74%) ensures maximum case detection. Moderate precision (66%) acceptable for screening phase.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645920"/>
            <a:ext cx="502920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SVM - Best for Confirmation</a:t>
            </a:r>
          </a:p>
          <a:p>
            <a:pPr algn="l">
              <a:defRPr sz="1200">
                <a:solidFill>
                  <a:srgbClr val="333333"/>
                </a:solidFill>
              </a:defRPr>
            </a:pPr>
            <a:r>
              <a:t>Highest precision (78%) minimizes false positives. Ideal for diagnostic confirmation phase.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Feature Importance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Glucose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solidFill>
            <a:srgbClr val="E74C3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BMI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2286000"/>
            <a:ext cx="5596128" cy="457200"/>
          </a:xfrm>
          <a:prstGeom prst="rect">
            <a:avLst/>
          </a:prstGeom>
          <a:solidFill>
            <a:srgbClr val="E74C3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2286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Glucose-BMI Interaction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926080"/>
            <a:ext cx="8229600" cy="45720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2926080"/>
            <a:ext cx="4443984" cy="457200"/>
          </a:xfrm>
          <a:prstGeom prst="rect">
            <a:avLst/>
          </a:prstGeom>
          <a:solidFill>
            <a:srgbClr val="E74C3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926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566160"/>
            <a:ext cx="8229600" cy="45720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3566160"/>
            <a:ext cx="3538728" cy="457200"/>
          </a:xfrm>
          <a:prstGeom prst="rect">
            <a:avLst/>
          </a:prstGeom>
          <a:solidFill>
            <a:srgbClr val="E74C3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3566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Diabetes Pedigree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206240"/>
            <a:ext cx="8229600" cy="45720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4206240"/>
            <a:ext cx="2633472" cy="457200"/>
          </a:xfrm>
          <a:prstGeom prst="rect">
            <a:avLst/>
          </a:prstGeom>
          <a:solidFill>
            <a:srgbClr val="E74C3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4206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Clinical Validation: Results align with clinical understanding - glucose levels as primary predictor, synergistic effects between obesity and glucose metabolism.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Cross-Validation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Mean Accuracy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Standard Deviation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Performance Range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Naive Bayes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75.2%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±2.8%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72.4% - 78.0%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±3.1%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71.7% - 77.9%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74.5%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±2.9%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71.6% - 77.4%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±3.4%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69.7% - 76.5%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Literature Benchmark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This Study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Naive Bayes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77.5%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Pima Indian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Smith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Pima Indian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Jones et al.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Neural Network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75.8%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Pima Indian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Lee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Pima Indian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206240"/>
            <a:ext cx="10972800" cy="9144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Key Insight: Our Naive Bayes model outperforms recent studies on the Pima Indian Diabetes Dataset, achieving a 1.3% higher accuracy than the best prior result.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Naive Bayes Superiority: High sensitivity (74%) makes it ideal for early diabetes screening in high-risk populations.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SVM Precision: Best for diagnostic confirmation due to high precision (78%), reducing false positives in clinical settings.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Feature Importance: Glucose and BMI as top predictors align with clinical guidelines, validating model interpretability.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Data Challenges: High missing values in insulin (48.7%) highlight the need for robust preprocessing strategies.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Limitations</a:t>
            </a:r>
            <a:br/>
            <a:r>
              <a:t>Small dataset size (768 samples) and female-only cohort limit generalizability. Future work should include diverse populations and larger datasets.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Implementation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Screening Phase: Deploy Naive Bayes for initial risk assessment in community health programs targeting high-risk groups like the Pima Indians.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Diagnostic Phase: Use SVM for confirmation in clinical settings to minimize false positives.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Data Collection: Standardize protocols to reduce missing values, especially for insulin and skin thickness.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Real-Time Systems: Integrate models into electronic health records for automated risk prediction.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Future Directions: Explore deep learning models and incorporate additional features like lifestyle data for improved prediction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4495E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Enhanced early detection in high-risk populations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Cost-effective screening for resource-limited settings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Evidence-based feature prioritization (Glucose, BMI)</a:t>
            </a:r>
          </a:p>
          <a:p>
            <a:pPr algn="l">
              <a:defRPr sz="1600">
                <a:solidFill>
                  <a:srgbClr val="333333"/>
                </a:solidFill>
              </a:defRPr>
            </a:pPr>
            <a:r>
              <a:t>Foundation for scalable AI-driven healthcare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solidFill>
            <a:srgbClr val="FFF3CD"/>
          </a:solidFill>
          <a:ln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Summary</a:t>
            </a:r>
            <a:br/>
            <a:r>
              <a:t>This study demonstrates the efficacy of machine learning for diabetes prediction, with Naive Bayes achieving the highest accuracy (77.5%) and sensitivity (74%) on the Pima Indian Diabetes Dataset. The results provide actionable insights for clinical screening and diagnosis.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